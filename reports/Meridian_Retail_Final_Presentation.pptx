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Five supplied datasets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rows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Sheet1!$A$2:$A$6</c:f>
              <c:strCache>
                <c:ptCount val="5"/>
                <c:pt idx="0">
                  <c:v>Customers</c:v>
                </c:pt>
                <c:pt idx="1">
                  <c:v>Products</c:v>
                </c:pt>
                <c:pt idx="2">
                  <c:v>Orders</c:v>
                </c:pt>
                <c:pt idx="3">
                  <c:v>Order items</c:v>
                </c:pt>
                <c:pt idx="4">
                  <c:v>Support tickets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6090</c:v>
                </c:pt>
                <c:pt idx="1">
                  <c:v>220</c:v>
                </c:pt>
                <c:pt idx="2">
                  <c:v>28297</c:v>
                </c:pt>
                <c:pt idx="3">
                  <c:v>73505</c:v>
                </c:pt>
                <c:pt idx="4">
                  <c:v>5200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Churn by membership tier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Sheet1!$A$2:$A$5</c:f>
              <c:strCache>
                <c:ptCount val="4"/>
                <c:pt idx="0">
                  <c:v>Bronze</c:v>
                </c:pt>
                <c:pt idx="1">
                  <c:v>Gold</c:v>
                </c:pt>
                <c:pt idx="2">
                  <c:v>Platinum</c:v>
                </c:pt>
                <c:pt idx="3">
                  <c:v>Silver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0.6646</c:v>
                </c:pt>
                <c:pt idx="1">
                  <c:v>0.6794</c:v>
                </c:pt>
                <c:pt idx="2">
                  <c:v>0.6618</c:v>
                </c:pt>
                <c:pt idx="3">
                  <c:v>0.6697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Median recency separates active vs churned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recency (days)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Sheet1!$A$2:$A$3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454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Median RFM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Sheet1!$A$2:$A$4</c:f>
              <c:strCache>
                <c:ptCount val="3"/>
                <c:pt idx="0">
                  <c:v>Recency (days)</c:v>
                </c:pt>
                <c:pt idx="1">
                  <c:v>Frequency</c:v>
                </c:pt>
                <c:pt idx="2">
                  <c:v>Monetary total ($)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</c:v>
                </c:pt>
                <c:pt idx="1">
                  <c:v>5</c:v>
                </c:pt>
                <c:pt idx="2">
                  <c:v>6981.66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008080"/>
            </a:solidFill>
          </c:spPr>
          <c:cat>
            <c:strRef>
              <c:f>Sheet1!$A$2:$A$4</c:f>
              <c:strCache>
                <c:ptCount val="3"/>
                <c:pt idx="0">
                  <c:v>Recency (days)</c:v>
                </c:pt>
                <c:pt idx="1">
                  <c:v>Frequency</c:v>
                </c:pt>
                <c:pt idx="2">
                  <c:v>Monetary total ($)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454</c:v>
                </c:pt>
                <c:pt idx="1">
                  <c:v>4</c:v>
                </c:pt>
                <c:pt idx="2">
                  <c:v>5426.34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Observed churn by signup cohort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0.8194</c:v>
                </c:pt>
                <c:pt idx="1">
                  <c:v>0.826</c:v>
                </c:pt>
                <c:pt idx="2">
                  <c:v>0.7919</c:v>
                </c:pt>
                <c:pt idx="3">
                  <c:v>0.7618</c:v>
                </c:pt>
                <c:pt idx="4">
                  <c:v>0.6651</c:v>
                </c:pt>
                <c:pt idx="5">
                  <c:v>0.5244</c:v>
                </c:pt>
                <c:pt idx="6">
                  <c:v>0.1458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Validation/test comparison (reported final metrics)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B60A3"/>
            </a:solidFill>
          </c:spPr>
          <c:cat>
            <c:strRef>
              <c:f>Sheet1!$A$2:$A$6</c:f>
              <c:strCache>
                <c:ptCount val="5"/>
                <c:pt idx="0">
                  <c:v>Dummy</c:v>
                </c:pt>
                <c:pt idx="1">
                  <c:v>Logistic</c:v>
                </c:pt>
                <c:pt idx="2">
                  <c:v>RF</c:v>
                </c:pt>
                <c:pt idx="3">
                  <c:v>GB</c:v>
                </c:pt>
                <c:pt idx="4">
                  <c:v>Tuned RF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0.751</c:v>
                </c:pt>
                <c:pt idx="1">
                  <c:v>0.7313</c:v>
                </c:pt>
                <c:pt idx="2">
                  <c:v>0.7905</c:v>
                </c:pt>
                <c:pt idx="3">
                  <c:v>0.7501</c:v>
                </c:pt>
                <c:pt idx="4">
                  <c:v>0.7895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8080"/>
            </a:solidFill>
          </c:spPr>
          <c:cat>
            <c:strRef>
              <c:f>Sheet1!$A$2:$A$6</c:f>
              <c:strCache>
                <c:ptCount val="5"/>
                <c:pt idx="0">
                  <c:v>Dummy</c:v>
                </c:pt>
                <c:pt idx="1">
                  <c:v>Logistic</c:v>
                </c:pt>
                <c:pt idx="2">
                  <c:v>RF</c:v>
                </c:pt>
                <c:pt idx="3">
                  <c:v>GB</c:v>
                </c:pt>
                <c:pt idx="4">
                  <c:v>Tuned RF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</c:v>
                </c:pt>
                <c:pt idx="1">
                  <c:v>0.5952</c:v>
                </c:pt>
                <c:pt idx="2">
                  <c:v>0.7382</c:v>
                </c:pt>
                <c:pt idx="3">
                  <c:v>0.6121</c:v>
                </c:pt>
                <c:pt idx="4">
                  <c:v>0.6515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Validation permutation importance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Permutation importance</c:v>
                </c:pt>
              </c:strCache>
            </c:strRef>
          </c:tx>
          <c:spPr>
            <a:solidFill>
              <a:srgbClr val="008080"/>
            </a:solidFill>
          </c:spPr>
          <c:cat>
            <c:strRef>
              <c:f>Sheet1!$A$2:$A$11</c:f>
              <c:strCache>
                <c:ptCount val="10"/>
                <c:pt idx="0">
                  <c:v>Tenure</c:v>
                </c:pt>
                <c:pt idx="1">
                  <c:v>State</c:v>
                </c:pt>
                <c:pt idx="2">
                  <c:v>Referral</c:v>
                </c:pt>
                <c:pt idx="3">
                  <c:v>Frequency</c:v>
                </c:pt>
                <c:pt idx="4">
                  <c:v>Monetary total</c:v>
                </c:pt>
                <c:pt idx="5">
                  <c:v>Tier</c:v>
                </c:pt>
                <c:pt idx="6">
                  <c:v>Channel</c:v>
                </c:pt>
                <c:pt idx="7">
                  <c:v>Opt-in</c:v>
                </c:pt>
                <c:pt idx="8">
                  <c:v>Monetary avg</c:v>
                </c:pt>
                <c:pt idx="9">
                  <c:v>Recency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0.08639</c:v>
                </c:pt>
                <c:pt idx="1">
                  <c:v>0.06665</c:v>
                </c:pt>
                <c:pt idx="2">
                  <c:v>0.05014</c:v>
                </c:pt>
                <c:pt idx="3">
                  <c:v>0.04183</c:v>
                </c:pt>
                <c:pt idx="4">
                  <c:v>0.0406</c:v>
                </c:pt>
                <c:pt idx="5">
                  <c:v>0.02776</c:v>
                </c:pt>
                <c:pt idx="6">
                  <c:v>0.02735</c:v>
                </c:pt>
                <c:pt idx="7">
                  <c:v>0.02322</c:v>
                </c:pt>
                <c:pt idx="8">
                  <c:v>0.01681</c:v>
                </c:pt>
                <c:pt idx="9">
                  <c:v>0.0057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77240"/>
            <a:ext cx="109728" cy="5029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914400"/>
            <a:ext cx="104241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Reducing Customer Churn at Meridian Retail Group</a:t>
            </a:r>
          </a:p>
          <a:p>
            <a:pPr>
              <a:defRPr sz="2400">
                <a:solidFill>
                  <a:srgbClr val="C8DCEB"/>
                </a:solidFill>
              </a:defRPr>
            </a:pPr>
            <a:r>
              <a:t>An End-to-End Data Science Investigation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Final Capstone Presentation | Group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977639"/>
            <a:ext cx="21945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3977639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1920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66.86%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Current churn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977639"/>
            <a:ext cx="21945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3977639"/>
            <a:ext cx="73152" cy="105156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4114800"/>
            <a:ext cx="1920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4,072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Churned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3977639"/>
            <a:ext cx="21945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3977639"/>
            <a:ext cx="73152" cy="105156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114800"/>
            <a:ext cx="1920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0.7895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Final test 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977639"/>
            <a:ext cx="21945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977639"/>
            <a:ext cx="73152" cy="105156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1920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2,018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Active customers scored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1. Business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</a:defRPr>
            </a:pPr>
            <a:r>
              <a:t>Meridian needs to reduce customer churn without wasting retention budget on low-risk customers.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</a:defRPr>
            </a:pPr>
            <a:r>
              <a:t>The project combines descriptive analysis, customer behaviour analysis and predictive modelling.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</a:defRPr>
            </a:pPr>
            <a:r>
              <a:t>Primary stakeholders: Customer Experience, Marketing and business leadership.</a:t>
            </a:r>
          </a:p>
          <a:p>
            <a:pPr>
              <a:spcAft>
                <a:spcPts val="1000"/>
              </a:spcAft>
              <a:defRPr sz="1800">
                <a:solidFill>
                  <a:srgbClr val="28303C"/>
                </a:solidFill>
              </a:defRPr>
            </a:pPr>
            <a:r>
              <a:t>Success means turning churn analysis into an actionable customer-prioritization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325880"/>
            <a:ext cx="3749039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06640" y="1325880"/>
            <a:ext cx="73152" cy="10515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463039"/>
            <a:ext cx="3474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180 days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Locked churn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651760"/>
            <a:ext cx="3749039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2651760"/>
            <a:ext cx="73152" cy="105156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2788920"/>
            <a:ext cx="3474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2026-07-01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EDA 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977639"/>
            <a:ext cx="3749039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977639"/>
            <a:ext cx="73152" cy="105156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4114800"/>
            <a:ext cx="3474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13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Predictive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2. Dataset &amp; Analytical Foundation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6583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2360" y="128016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Phase 6 cleaned data became the source of truth for EDA and ML.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Final analytical rows: 6,090 customers; 220 products; 28,252 orders; 73,405 order items; 5,200 tickets.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SQL and Excel were used as complementary validation/analysis layers.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The workflow preserves auditability from raw data to deployed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3. Data Quality Issues Found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Duplicate order/order-item records → exact duplicates removed.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Categorical inconsistencies → membership tiers, states and statuses standardized.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Invalid/future DOB values → invalid values converted to missing rather than invented.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Negative shipping/quantity values → sign errors corrected where evidence supported it.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Missing support satisfaction/resolution values → retained and handled explicitly in modelling.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Plausible outliers → flagged and retained because an outlier is not automatically an error.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Customer name/phone duplicates → documented as an entity-resolution limitation rather than auto-merging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4. Churn Snapshot — 2026-07-01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4688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73152" cy="1188720"/>
          </a:xfrm>
          <a:prstGeom prst="rect">
            <a:avLst/>
          </a:prstGeom>
          <a:solidFill>
            <a:srgbClr val="B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258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4,072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Churned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4688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73152" cy="118872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3258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2,018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Active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188720"/>
            <a:ext cx="24688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188720"/>
            <a:ext cx="73152" cy="118872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3258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66.86%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Churn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188720"/>
            <a:ext cx="24688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1188720"/>
            <a:ext cx="73152" cy="118872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3258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444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No completed history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2743200"/>
          <a:ext cx="5486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583680" y="278892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Tier differences are small: no single tier explains the churn problem.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This supports individualized risk prioritization rather than broad tier-only campaigns.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All 444 customers with no completed-order history were classified as churned under the locked definition.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8303C"/>
                </a:solidFill>
              </a:defRPr>
            </a:pPr>
            <a:r>
              <a:t>Insight: Meridian's 66.86% churn rate is broad-based; retention should focus on customer behaviour and risk, not only membership tier.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5. Key EDA Finding — Recency Dominates Behaviour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7432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14300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87 days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Median active recency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27432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143000"/>
            <a:ext cx="73152" cy="1143000"/>
          </a:xfrm>
          <a:prstGeom prst="rect">
            <a:avLst/>
          </a:prstGeom>
          <a:solidFill>
            <a:srgbClr val="B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454 days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Median churned recency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143000"/>
            <a:ext cx="27432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143000"/>
            <a:ext cx="73152" cy="114300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280160"/>
            <a:ext cx="24688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r = 0.8301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Recency effect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143000"/>
            <a:ext cx="192024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143000"/>
            <a:ext cx="73152" cy="114300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280160"/>
            <a:ext cx="16459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Large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Effect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914400" y="27889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9440" y="288036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Recency measures how recently a customer completed an order.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The very large effect size indicates a strong behavioural separation.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Operationally: watch declining engagement before customers become deeply inactive.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6. RFM Profile — Churned Customers Buy Less Recently and Less Often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2360" y="137160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Median frequency falls from 5 completed orders among active customers to 4 among churned customers.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Median historical monetary value is also lower among churned customers.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Frequency and monetary value are strongly related overall (Spearman ρ = 0.8110).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RFM therefore provides a useful customer-health lens for retention prioritization.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7. Cohort &amp; Support Insights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3258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Older cohorts show much higher observed churn.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Newer cohorts have had less time to mature, so exposure time is a major caveat.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Among customers with tickets, median resolution time was ~13.91% higher for churned customers.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Ticket volume and satisfaction had very small effect sizes; support is a secondary signal, not a proven cause.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89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8303C"/>
                </a:solidFill>
              </a:defRPr>
            </a:pPr>
            <a:r>
              <a:t>Insight: cohort differences are informative but exposure-adjusted lifecycle analysis is needed before claiming that newer customers are inherently more loyal.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8. Machine Learning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Target: future 180-day churn for active customers, with predictors restricted to information available on or before each prediction date.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55 monthly historical prediction dates from 2021-07-01 to 2026-01-01.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Time-based split: Train 2021-07–2024-12; Validation 2025-01–2025-06; Test 2025-07–2026-01.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13 predictors: customer attributes, tenure, RFM features and support aggregates.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Preprocessing is inside the modelling pipeline to reduce leakage risk and keep transformations reproducible.</a:t>
            </a:r>
          </a:p>
          <a:p>
            <a:pPr>
              <a:spcAft>
                <a:spcPts val="1000"/>
              </a:spcAft>
              <a:defRPr sz="1600">
                <a:solidFill>
                  <a:srgbClr val="28303C"/>
                </a:solidFill>
              </a:defRPr>
            </a:pPr>
            <a:r>
              <a:t>Models evaluated included a majority baseline, Logistic Regression, Random Forest, Gradient Boosting and a neural-network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9. Model Comparison — Tuned Random Forest Wins Overall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14300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23444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03C"/>
                </a:solidFill>
              </a:defRPr>
            </a:pPr>
            <a:r>
              <a:t>Untuned RF had strong validation performance but degraded more on the later test period.</a:t>
            </a:r>
          </a:p>
          <a:p>
            <a:pPr>
              <a:spcAft>
                <a:spcPts val="1000"/>
              </a:spcAft>
              <a:defRPr sz="1400">
                <a:solidFill>
                  <a:srgbClr val="28303C"/>
                </a:solidFill>
              </a:defRPr>
            </a:pPr>
            <a:r>
              <a:t>RandomizedSearchCV + TimeSeriesSplit produced a more stable tuned RF.</a:t>
            </a:r>
          </a:p>
          <a:p>
            <a:pPr>
              <a:spcAft>
                <a:spcPts val="1000"/>
              </a:spcAft>
              <a:defRPr sz="1400">
                <a:solidFill>
                  <a:srgbClr val="28303C"/>
                </a:solidFill>
              </a:defRPr>
            </a:pPr>
            <a:r>
              <a:t>Best CV ROC-AUC: 0.6963.</a:t>
            </a:r>
          </a:p>
          <a:p>
            <a:pPr>
              <a:spcAft>
                <a:spcPts val="1000"/>
              </a:spcAft>
              <a:defRPr sz="1400">
                <a:solidFill>
                  <a:srgbClr val="28303C"/>
                </a:solidFill>
              </a:defRPr>
            </a:pPr>
            <a:r>
              <a:t>Final choice prioritizes recall/F1/PR-AUC while retaining useful probability ranking.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10. Final Model Performance — Test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73152" cy="114300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280160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68.63%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14300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143000"/>
            <a:ext cx="73152" cy="1143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280160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58.63%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Balanced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14300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72.25%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14300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39" y="1143000"/>
            <a:ext cx="73152" cy="114300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1280160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87.03%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6032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73152" cy="114300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697479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78.95%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56032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2560320"/>
            <a:ext cx="73152" cy="1143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697479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65.15%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ROC-AUC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60320"/>
            <a:ext cx="2514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560320"/>
            <a:ext cx="73152" cy="114300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697479"/>
            <a:ext cx="22402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77.37%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PR-AUC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Confusion matrix: TN 3,624 | FP 8,362 | FN 3,243 | TP 21,767.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Recall is high: most true future churners are identified.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False positives remain substantial, so broad untargeted incentives would be expensive.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Threshold 0.50 produced the highest tested validation F1 and was retained for scoring.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11. What Drives the Model?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143000"/>
          <a:ext cx="6675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13258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Tenure is the strongest measured predictor in the validation permutation analysis.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State and referral source add predictive information, followed by purchase frequency and monetary value.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Importance shows predictive contribution—not that changing a variable will cause churn to change.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This distinction is critical when translating model output into business actions.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12. From Prediction to Action — Current Customer Risk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74320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73152" cy="1188720"/>
          </a:xfrm>
          <a:prstGeom prst="rect">
            <a:avLst/>
          </a:prstGeom>
          <a:solidFill>
            <a:srgbClr val="2B6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2,018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Active customers scored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143000"/>
            <a:ext cx="274320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0" y="1143000"/>
            <a:ext cx="73152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0.50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Current decision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143000"/>
            <a:ext cx="274320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143000"/>
            <a:ext cx="73152" cy="118872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280160"/>
            <a:ext cx="2468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Risk bands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143000"/>
            <a:ext cx="192024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143000"/>
            <a:ext cx="73152" cy="118872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280160"/>
            <a:ext cx="1645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CSV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Action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</a:defRPr>
            </a:pPr>
            <a:r>
              <a:t>Very High: ≥0.80 | High: 0.60–&lt;0.80 | Moderate: 0.40–&lt;0.60 | Lower: &lt;0.40.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</a:defRPr>
            </a:pPr>
            <a:r>
              <a:t>Combine churn probability with historical customer value to prioritize scarce retention resources.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</a:defRPr>
            </a:pPr>
            <a:r>
              <a:t>Expected value at risk = probability × historical monetary value; it is a scenario measure, not guaranteed future revenue loss.</a:t>
            </a:r>
          </a:p>
          <a:p>
            <a:pPr>
              <a:spcAft>
                <a:spcPts val="1000"/>
              </a:spcAft>
              <a:defRPr sz="1700">
                <a:solidFill>
                  <a:srgbClr val="28303C"/>
                </a:solidFill>
              </a:defRPr>
            </a:pPr>
            <a:r>
              <a:t>The scoring file is ready for downstream campaign prioritization.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E"/>
                </a:solidFill>
              </a:defRPr>
            </a:pPr>
            <a:r>
              <a:t>13. Business Recommendations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1. Intervene on declining engagement before deep inactivity.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2. Prioritize high-risk/high-value customers rather than treating all churners equally.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3. Use tiered retention actions based on risk severity and campaign cost.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4. Monitor support-resolution delays as an early-warning signal.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5. Recalibrate the threshold when real campaign capacity and incentive costs are known.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14300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Synthetic dataset → findings are a capstone demonstration.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Historical customer attributes are not fully time-versioned.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Feature importance is associative, not causal.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ROC-AUC 0.6515 leaves room for improvement.</a:t>
            </a:r>
          </a:p>
          <a:p>
            <a:pPr>
              <a:spcAft>
                <a:spcPts val="1000"/>
              </a:spcAft>
              <a:defRPr sz="1500">
                <a:solidFill>
                  <a:srgbClr val="28303C"/>
                </a:solidFill>
              </a:defRPr>
            </a:pPr>
            <a:r>
              <a:t>High false-positive volume requires cost-aware campaign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14. Deployment Demo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9260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1143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6517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POST /predict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FastAPI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417320"/>
            <a:ext cx="29260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73152" cy="1143000"/>
          </a:xfrm>
          <a:prstGeom prst="rect">
            <a:avLst/>
          </a:prstGeom>
          <a:solidFill>
            <a:srgbClr val="30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554480"/>
            <a:ext cx="26517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HTTP 200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Valid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17320"/>
            <a:ext cx="292608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417320"/>
            <a:ext cx="73152" cy="1143000"/>
          </a:xfrm>
          <a:prstGeom prst="rect">
            <a:avLst/>
          </a:prstGeom>
          <a:solidFill>
            <a:srgbClr val="BE9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554480"/>
            <a:ext cx="26517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0.6936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Demo churn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417320"/>
            <a:ext cx="146304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12680" y="1417320"/>
            <a:ext cx="73152" cy="1143000"/>
          </a:xfrm>
          <a:prstGeom prst="rect">
            <a:avLst/>
          </a:prstGeom>
          <a:solidFill>
            <a:srgbClr val="B9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59" y="1554480"/>
            <a:ext cx="1188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33E"/>
                </a:solidFill>
              </a:defRPr>
            </a:pPr>
            <a:r>
              <a:t>422</a:t>
            </a:r>
          </a:p>
          <a:p>
            <a:pPr>
              <a:defRPr sz="1100">
                <a:solidFill>
                  <a:srgbClr val="28303C"/>
                </a:solidFill>
              </a:defRPr>
            </a:pPr>
            <a:r>
              <a:t>Invalid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Saved model: tuned_random_forest_churn_pipeline.joblib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API validates inputs and returns clear errors instead of crashing.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Current scoring covers 2,018 active customers.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</a:defRPr>
            </a:pPr>
            <a:r>
              <a:t>Bottom line: Meridian can move from broad churn reporting to prioritized, evidence-based retention.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EDCEB"/>
                </a:solidFill>
              </a:defRPr>
            </a:pPr>
            <a:r>
              <a:t>Thank you — ready for technical Q&amp;A / viva.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37960"/>
            <a:ext cx="11155680" cy="13716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656539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8303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